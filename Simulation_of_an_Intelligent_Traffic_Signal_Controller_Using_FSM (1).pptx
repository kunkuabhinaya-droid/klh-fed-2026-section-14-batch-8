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Source Sans 3"/>
      <p:regular r:id="rId201314"/>
    </p:embeddedFont>
    <p:embeddedFont>
      <p:font typeface="Source Sans 3 SemiBold"/>
      <p:regular r:id="rId201315"/>
    </p:embeddedFont>
    <p:embeddedFont>
      <p:font typeface="Source Sans 3 Bold"/>
      <p:regular r:id="rId201316"/>
    </p:embeddedFont>
    <p:embeddedFont>
      <p:font typeface="Source Serif 4 Semi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4715"/>
            <a:ext cx="6705432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DDCA PROJECT · KL UNIVERSITY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268569"/>
            <a:ext cx="6095848" cy="2559050"/>
          </a:xfrm>
          <a:prstGeom prst="rect">
            <a:avLst/>
          </a:prstGeom>
          <a:noFill/>
          <a:ln/>
        </p:spPr>
        <p:txBody>
          <a:bodyPr wrap="square" lIns="0" tIns="139697" rIns="0" bIns="139697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spc="-79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Simulation of an Intelligent Traffic Signal Controller Using FSM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2832001"/>
            <a:ext cx="6095848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clocked digital controller for safe, repeatable traffic flow.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3764657"/>
            <a:ext cx="1523962" cy="38100"/>
          </a:xfrm>
          <a:prstGeom prst="roundRect">
            <a:avLst>
              <a:gd name="adj" fmla="val 49999"/>
            </a:avLst>
          </a:prstGeom>
          <a:solidFill>
            <a:srgbClr val="55E6FF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4034532"/>
            <a:ext cx="6095848" cy="272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Section: 14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Team: 8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2620030353; 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2620030358;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2620030358; 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2620030366 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60676"/>
            <a:ext cx="6126406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SYSTEM 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1145802"/>
            <a:ext cx="5516821" cy="1096764"/>
          </a:xfrm>
          <a:prstGeom prst="rect">
            <a:avLst/>
          </a:prstGeom>
          <a:noFill/>
          <a:ln/>
        </p:spPr>
        <p:txBody>
          <a:bodyPr wrap="square" lIns="0" tIns="107947" rIns="0" bIns="107947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spc="-61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Safe traffic control starts with one shared clock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289175"/>
            <a:ext cx="5516821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intelligent traffic signal controller coordinates two intersecting roads through timed digital states.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062684"/>
            <a:ext cx="539736" cy="53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667395"/>
            <a:ext cx="1635679" cy="406896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00" spc="-32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One clock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9585" y="4152205"/>
            <a:ext cx="1635679" cy="119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clock edge advances the controller in a known order.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057" y="3062684"/>
            <a:ext cx="539736" cy="539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50057" y="3667395"/>
            <a:ext cx="1635779" cy="406896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00" spc="-32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One FSM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2550057" y="4152205"/>
            <a:ext cx="1635779" cy="119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current state determines the next transition and outputs.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628" y="3062684"/>
            <a:ext cx="539736" cy="539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90628" y="3667395"/>
            <a:ext cx="1635679" cy="406896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00" spc="-32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One safety rule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4490628" y="4152205"/>
            <a:ext cx="1635679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Conflicting green lights are never allowed.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09585" y="5521583"/>
            <a:ext cx="5516821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Objectives: automate signal changes, control traffic flow, prevent conflicting green lights, and demonstrate digital logic in Logisim.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684" y="0"/>
            <a:ext cx="5151011" cy="6858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9585" y="6448921"/>
            <a:ext cx="684691" cy="208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410"/>
            <a:ext cx="1158211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FINITE STATE MACHINE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798536"/>
            <a:ext cx="10972526" cy="656332"/>
          </a:xfrm>
          <a:prstGeom prst="rect">
            <a:avLst/>
          </a:prstGeom>
          <a:noFill/>
          <a:ln/>
        </p:spPr>
        <p:txBody>
          <a:bodyPr wrap="none" lIns="0" tIns="107947" rIns="0" bIns="107947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spc="-61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Five states turn timing into safe, repeatable logic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01477"/>
            <a:ext cx="11582110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clock advances the FSM; D flip-flops store the state; AND, OR, and NOT gates form next-state and output logic.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3642618"/>
            <a:ext cx="10972526" cy="28575"/>
          </a:xfrm>
          <a:prstGeom prst="roundRect">
            <a:avLst>
              <a:gd name="adj" fmla="val 39999"/>
            </a:avLst>
          </a:prstGeom>
          <a:solidFill>
            <a:srgbClr val="59256E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34063" y="3210818"/>
            <a:ext cx="28574" cy="431800"/>
          </a:xfrm>
          <a:prstGeom prst="roundRect">
            <a:avLst>
              <a:gd name="adj" fmla="val 40000"/>
            </a:avLst>
          </a:prstGeom>
          <a:solidFill>
            <a:srgbClr val="E1CFC9"/>
          </a:solidFill>
          <a:ln/>
        </p:spPr>
      </p:sp>
      <p:sp>
        <p:nvSpPr>
          <p:cNvPr id="7" name="Shape 5"/>
          <p:cNvSpPr/>
          <p:nvPr/>
        </p:nvSpPr>
        <p:spPr>
          <a:xfrm>
            <a:off x="2267389" y="3561655"/>
            <a:ext cx="161921" cy="161925"/>
          </a:xfrm>
          <a:prstGeom prst="ellipse">
            <a:avLst/>
          </a:prstGeom>
          <a:solidFill>
            <a:srgbClr val="FBE9E3"/>
          </a:solidFill>
          <a:ln/>
        </p:spPr>
      </p:sp>
      <p:sp>
        <p:nvSpPr>
          <p:cNvPr id="8" name="Text 6"/>
          <p:cNvSpPr/>
          <p:nvPr/>
        </p:nvSpPr>
        <p:spPr>
          <a:xfrm>
            <a:off x="825479" y="1919982"/>
            <a:ext cx="3045741" cy="406896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1800" spc="-32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5479" y="2399209"/>
            <a:ext cx="3045741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 green · side red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207762" y="3642618"/>
            <a:ext cx="28574" cy="431800"/>
          </a:xfrm>
          <a:prstGeom prst="roundRect">
            <a:avLst>
              <a:gd name="adj" fmla="val 40000"/>
            </a:avLst>
          </a:prstGeom>
          <a:solidFill>
            <a:srgbClr val="DECBD2"/>
          </a:solidFill>
          <a:ln/>
        </p:spPr>
      </p:sp>
      <p:sp>
        <p:nvSpPr>
          <p:cNvPr id="11" name="Shape 9"/>
          <p:cNvSpPr/>
          <p:nvPr/>
        </p:nvSpPr>
        <p:spPr>
          <a:xfrm>
            <a:off x="4141089" y="3561655"/>
            <a:ext cx="161921" cy="161925"/>
          </a:xfrm>
          <a:prstGeom prst="ellipse">
            <a:avLst/>
          </a:prstGeom>
          <a:solidFill>
            <a:srgbClr val="F8E5EC"/>
          </a:solidFill>
          <a:ln/>
        </p:spPr>
      </p:sp>
      <p:sp>
        <p:nvSpPr>
          <p:cNvPr id="12" name="Text 10"/>
          <p:cNvSpPr/>
          <p:nvPr/>
        </p:nvSpPr>
        <p:spPr>
          <a:xfrm>
            <a:off x="2699179" y="4233168"/>
            <a:ext cx="3045741" cy="406896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1800" spc="-32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99179" y="4712395"/>
            <a:ext cx="3045741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 yellow · side red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81461" y="3210818"/>
            <a:ext cx="28574" cy="431800"/>
          </a:xfrm>
          <a:prstGeom prst="roundRect">
            <a:avLst>
              <a:gd name="adj" fmla="val 40000"/>
            </a:avLst>
          </a:prstGeom>
          <a:solidFill>
            <a:srgbClr val="D7CAD9"/>
          </a:solidFill>
          <a:ln/>
        </p:spPr>
      </p:sp>
      <p:sp>
        <p:nvSpPr>
          <p:cNvPr id="15" name="Shape 13"/>
          <p:cNvSpPr/>
          <p:nvPr/>
        </p:nvSpPr>
        <p:spPr>
          <a:xfrm>
            <a:off x="6014788" y="3561655"/>
            <a:ext cx="161921" cy="161925"/>
          </a:xfrm>
          <a:prstGeom prst="ellipse">
            <a:avLst/>
          </a:prstGeom>
          <a:solidFill>
            <a:srgbClr val="F1E4F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828" y="1919982"/>
            <a:ext cx="3045840" cy="406896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1800" spc="-32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878" y="2399209"/>
            <a:ext cx="3045840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Both roads red · all-red clearance interval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955160" y="3642618"/>
            <a:ext cx="28574" cy="431800"/>
          </a:xfrm>
          <a:prstGeom prst="roundRect">
            <a:avLst>
              <a:gd name="adj" fmla="val 40000"/>
            </a:avLst>
          </a:prstGeom>
          <a:solidFill>
            <a:srgbClr val="CFC3DA"/>
          </a:solidFill>
          <a:ln/>
        </p:spPr>
      </p:sp>
      <p:sp>
        <p:nvSpPr>
          <p:cNvPr id="19" name="Shape 17"/>
          <p:cNvSpPr/>
          <p:nvPr/>
        </p:nvSpPr>
        <p:spPr>
          <a:xfrm>
            <a:off x="7888487" y="3561655"/>
            <a:ext cx="161921" cy="161925"/>
          </a:xfrm>
          <a:prstGeom prst="ellipse">
            <a:avLst/>
          </a:prstGeom>
          <a:solidFill>
            <a:srgbClr val="E9DDF4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7" y="4233168"/>
            <a:ext cx="3045840" cy="406896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1800" spc="-32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6577" y="4712395"/>
            <a:ext cx="3045840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 red · side green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828959" y="3210818"/>
            <a:ext cx="28574" cy="431800"/>
          </a:xfrm>
          <a:prstGeom prst="roundRect">
            <a:avLst>
              <a:gd name="adj" fmla="val 40000"/>
            </a:avLst>
          </a:prstGeom>
          <a:solidFill>
            <a:srgbClr val="E1CFC9"/>
          </a:solidFill>
          <a:ln/>
        </p:spPr>
      </p:sp>
      <p:sp>
        <p:nvSpPr>
          <p:cNvPr id="23" name="Shape 21"/>
          <p:cNvSpPr/>
          <p:nvPr/>
        </p:nvSpPr>
        <p:spPr>
          <a:xfrm>
            <a:off x="9762285" y="3561655"/>
            <a:ext cx="161921" cy="161925"/>
          </a:xfrm>
          <a:prstGeom prst="ellipse">
            <a:avLst/>
          </a:prstGeom>
          <a:solidFill>
            <a:srgbClr val="FBE9E3"/>
          </a:solidFill>
          <a:ln/>
        </p:spPr>
      </p:sp>
      <p:sp>
        <p:nvSpPr>
          <p:cNvPr id="24" name="Text 22"/>
          <p:cNvSpPr/>
          <p:nvPr/>
        </p:nvSpPr>
        <p:spPr>
          <a:xfrm>
            <a:off x="8320375" y="1919982"/>
            <a:ext cx="3045741" cy="406896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1800" spc="-32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20375" y="2399209"/>
            <a:ext cx="3045741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 red · side yellow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09585" y="5188049"/>
            <a:ext cx="11582110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Clocked sequence: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S0 → S1 → S2 → S3 → S4 → S2 → S0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09585" y="5602387"/>
            <a:ext cx="2628834" cy="1004391"/>
          </a:xfrm>
          <a:prstGeom prst="rect">
            <a:avLst/>
          </a:prstGeom>
          <a:solidFill>
            <a:srgbClr val="E9DDF4"/>
          </a:solidFill>
          <a:ln/>
        </p:spPr>
      </p:sp>
      <p:sp>
        <p:nvSpPr>
          <p:cNvPr id="28" name="Text 26"/>
          <p:cNvSpPr/>
          <p:nvPr/>
        </p:nvSpPr>
        <p:spPr>
          <a:xfrm>
            <a:off x="838179" y="5834797"/>
            <a:ext cx="240024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11" kern="100" dirty="0">
                <a:solidFill>
                  <a:srgbClr val="000000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CLOCK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8179" y="6036243"/>
            <a:ext cx="2171646" cy="406896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00" spc="-32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Advance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390815" y="5602387"/>
            <a:ext cx="2628834" cy="1004391"/>
          </a:xfrm>
          <a:prstGeom prst="rect">
            <a:avLst/>
          </a:prstGeom>
          <a:solidFill>
            <a:srgbClr val="E9DDF4"/>
          </a:solidFill>
          <a:ln/>
        </p:spPr>
      </p:sp>
      <p:sp>
        <p:nvSpPr>
          <p:cNvPr id="31" name="Text 29"/>
          <p:cNvSpPr/>
          <p:nvPr/>
        </p:nvSpPr>
        <p:spPr>
          <a:xfrm>
            <a:off x="3619409" y="5834797"/>
            <a:ext cx="240024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11" kern="100" dirty="0">
                <a:solidFill>
                  <a:srgbClr val="000000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STATE REGISTER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619409" y="6036243"/>
            <a:ext cx="2171646" cy="406896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00" spc="-32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 flip-flops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172046" y="5602387"/>
            <a:ext cx="2628834" cy="1004391"/>
          </a:xfrm>
          <a:prstGeom prst="rect">
            <a:avLst/>
          </a:prstGeom>
          <a:solidFill>
            <a:srgbClr val="E9DDF4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640" y="5834797"/>
            <a:ext cx="240024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11" kern="100" dirty="0">
                <a:solidFill>
                  <a:srgbClr val="000000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NEXT-STATE LOGIC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640" y="6036243"/>
            <a:ext cx="2171646" cy="406896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00" spc="-32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AND · OR · NOT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953276" y="5602387"/>
            <a:ext cx="2628834" cy="1004391"/>
          </a:xfrm>
          <a:prstGeom prst="rect">
            <a:avLst/>
          </a:prstGeom>
          <a:solidFill>
            <a:srgbClr val="E9DDF4"/>
          </a:solidFill>
          <a:ln/>
        </p:spPr>
      </p:sp>
      <p:sp>
        <p:nvSpPr>
          <p:cNvPr id="37" name="Text 35"/>
          <p:cNvSpPr/>
          <p:nvPr/>
        </p:nvSpPr>
        <p:spPr>
          <a:xfrm>
            <a:off x="9181870" y="5834797"/>
            <a:ext cx="240024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11" kern="100" dirty="0">
                <a:solidFill>
                  <a:srgbClr val="000000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OUTPUT DECODER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181870" y="6036243"/>
            <a:ext cx="2171646" cy="406896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00" spc="-32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Six lamp outputs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507004" y="6448921"/>
            <a:ext cx="684691" cy="208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410"/>
            <a:ext cx="1158211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LOGISIM IMPLEMENTATION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798536"/>
            <a:ext cx="10972526" cy="656332"/>
          </a:xfrm>
          <a:prstGeom prst="rect">
            <a:avLst/>
          </a:prstGeom>
          <a:noFill/>
          <a:ln/>
        </p:spPr>
        <p:txBody>
          <a:bodyPr wrap="none" lIns="0" tIns="107947" rIns="0" bIns="107947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spc="-61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Logisim implementation mirrors the FSM blocks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01477"/>
            <a:ext cx="11582110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clock step exposes one state, one decoded lamp pattern, and one safe transition.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4996121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Illustrative schematic — not an actual Logisim screenshot.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507004" y="6448921"/>
            <a:ext cx="684691" cy="208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34012" y="2871589"/>
            <a:ext cx="1496181" cy="798016"/>
          </a:xfrm>
          <a:prstGeom prst="roundRect">
            <a:avLst>
              <a:gd name="adj" fmla="val 11458"/>
            </a:avLst>
          </a:prstGeom>
          <a:solidFill>
            <a:srgbClr val="123B57"/>
          </a:solidFill>
          <a:ln w="12700">
            <a:solidFill>
              <a:srgbClr val="55E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916" y="2968526"/>
            <a:ext cx="1826373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CLOCK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8916" y="3383022"/>
            <a:ext cx="18263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pulse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355196" y="3083620"/>
            <a:ext cx="598473" cy="374055"/>
          </a:xfrm>
          <a:prstGeom prst="rightArrow">
            <a:avLst/>
          </a:prstGeom>
          <a:solidFill>
            <a:srgbClr val="55E6FF"/>
          </a:solidFill>
          <a:ln/>
        </p:spPr>
      </p:sp>
      <p:sp>
        <p:nvSpPr>
          <p:cNvPr id="11" name="Shape 9"/>
          <p:cNvSpPr/>
          <p:nvPr/>
        </p:nvSpPr>
        <p:spPr>
          <a:xfrm>
            <a:off x="2978572" y="2672159"/>
            <a:ext cx="1870227" cy="1196975"/>
          </a:xfrm>
          <a:prstGeom prst="roundRect">
            <a:avLst>
              <a:gd name="adj" fmla="val 7639"/>
            </a:avLst>
          </a:prstGeom>
          <a:solidFill>
            <a:srgbClr val="123B57"/>
          </a:solidFill>
          <a:ln w="12700">
            <a:solidFill>
              <a:srgbClr val="55E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13476" y="2968526"/>
            <a:ext cx="2200418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STATE REGISTER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13476" y="3383022"/>
            <a:ext cx="220041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 D flip-flops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73900" y="3083620"/>
            <a:ext cx="598473" cy="374055"/>
          </a:xfrm>
          <a:prstGeom prst="rightArrow">
            <a:avLst/>
          </a:prstGeom>
          <a:solidFill>
            <a:srgbClr val="55E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522278" y="2672159"/>
            <a:ext cx="1870227" cy="1196975"/>
          </a:xfrm>
          <a:prstGeom prst="roundRect">
            <a:avLst>
              <a:gd name="adj" fmla="val 7639"/>
            </a:avLst>
          </a:prstGeom>
          <a:solidFill>
            <a:srgbClr val="123B57"/>
          </a:solidFill>
          <a:ln w="12700">
            <a:solidFill>
              <a:srgbClr val="55E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7182" y="2968526"/>
            <a:ext cx="2200418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NEXT-STATE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357182" y="3383022"/>
            <a:ext cx="220041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AND · OR · NOT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17507" y="3083620"/>
            <a:ext cx="598473" cy="374055"/>
          </a:xfrm>
          <a:prstGeom prst="rightArrow">
            <a:avLst/>
          </a:prstGeom>
          <a:solidFill>
            <a:srgbClr val="55E6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0883" y="2672159"/>
            <a:ext cx="1870227" cy="1196975"/>
          </a:xfrm>
          <a:prstGeom prst="roundRect">
            <a:avLst>
              <a:gd name="adj" fmla="val 7639"/>
            </a:avLst>
          </a:prstGeom>
          <a:solidFill>
            <a:srgbClr val="123B57"/>
          </a:solidFill>
          <a:ln w="12700">
            <a:solidFill>
              <a:srgbClr val="55E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75787" y="2968526"/>
            <a:ext cx="2200418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OUTPUT DECODER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875787" y="3383022"/>
            <a:ext cx="220041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state → lamps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060827" y="2148384"/>
            <a:ext cx="698185" cy="523677"/>
          </a:xfrm>
          <a:prstGeom prst="roundRect">
            <a:avLst>
              <a:gd name="adj" fmla="val 14551"/>
            </a:avLst>
          </a:prstGeom>
          <a:solidFill>
            <a:srgbClr val="C62845"/>
          </a:solidFill>
          <a:ln/>
        </p:spPr>
      </p:sp>
      <p:sp>
        <p:nvSpPr>
          <p:cNvPr id="23" name="Text 21"/>
          <p:cNvSpPr/>
          <p:nvPr/>
        </p:nvSpPr>
        <p:spPr>
          <a:xfrm>
            <a:off x="9832233" y="2291953"/>
            <a:ext cx="1155373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 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060827" y="2746970"/>
            <a:ext cx="698185" cy="523677"/>
          </a:xfrm>
          <a:prstGeom prst="roundRect">
            <a:avLst>
              <a:gd name="adj" fmla="val 14551"/>
            </a:avLst>
          </a:prstGeom>
          <a:solidFill>
            <a:srgbClr val="E6B84A"/>
          </a:solidFill>
          <a:ln/>
        </p:spPr>
      </p:sp>
      <p:sp>
        <p:nvSpPr>
          <p:cNvPr id="25" name="Text 23"/>
          <p:cNvSpPr/>
          <p:nvPr/>
        </p:nvSpPr>
        <p:spPr>
          <a:xfrm>
            <a:off x="9832233" y="2890540"/>
            <a:ext cx="1155373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 Y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0060827" y="3345458"/>
            <a:ext cx="698185" cy="523677"/>
          </a:xfrm>
          <a:prstGeom prst="roundRect">
            <a:avLst>
              <a:gd name="adj" fmla="val 14551"/>
            </a:avLst>
          </a:prstGeom>
          <a:solidFill>
            <a:srgbClr val="31C878"/>
          </a:solidFill>
          <a:ln/>
        </p:spPr>
      </p:sp>
      <p:sp>
        <p:nvSpPr>
          <p:cNvPr id="27" name="Text 25"/>
          <p:cNvSpPr/>
          <p:nvPr/>
        </p:nvSpPr>
        <p:spPr>
          <a:xfrm>
            <a:off x="9832233" y="3489027"/>
            <a:ext cx="1155373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 G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0908729" y="2148384"/>
            <a:ext cx="698185" cy="523677"/>
          </a:xfrm>
          <a:prstGeom prst="roundRect">
            <a:avLst>
              <a:gd name="adj" fmla="val 14551"/>
            </a:avLst>
          </a:prstGeom>
          <a:solidFill>
            <a:srgbClr val="C62845"/>
          </a:solidFill>
          <a:ln/>
        </p:spPr>
      </p:sp>
      <p:sp>
        <p:nvSpPr>
          <p:cNvPr id="29" name="Text 27"/>
          <p:cNvSpPr/>
          <p:nvPr/>
        </p:nvSpPr>
        <p:spPr>
          <a:xfrm>
            <a:off x="10680135" y="2291953"/>
            <a:ext cx="1155373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 R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0908729" y="2746970"/>
            <a:ext cx="698185" cy="523677"/>
          </a:xfrm>
          <a:prstGeom prst="roundRect">
            <a:avLst>
              <a:gd name="adj" fmla="val 14551"/>
            </a:avLst>
          </a:prstGeom>
          <a:solidFill>
            <a:srgbClr val="E6B84A"/>
          </a:solidFill>
          <a:ln/>
        </p:spPr>
      </p:sp>
      <p:sp>
        <p:nvSpPr>
          <p:cNvPr id="31" name="Text 29"/>
          <p:cNvSpPr/>
          <p:nvPr/>
        </p:nvSpPr>
        <p:spPr>
          <a:xfrm>
            <a:off x="10680135" y="2890540"/>
            <a:ext cx="1155373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 Y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10908729" y="3345458"/>
            <a:ext cx="698185" cy="523677"/>
          </a:xfrm>
          <a:prstGeom prst="roundRect">
            <a:avLst>
              <a:gd name="adj" fmla="val 14551"/>
            </a:avLst>
          </a:prstGeom>
          <a:solidFill>
            <a:srgbClr val="31C878"/>
          </a:solidFill>
          <a:ln/>
        </p:spPr>
      </p:sp>
      <p:sp>
        <p:nvSpPr>
          <p:cNvPr id="33" name="Text 31"/>
          <p:cNvSpPr/>
          <p:nvPr/>
        </p:nvSpPr>
        <p:spPr>
          <a:xfrm>
            <a:off x="10680135" y="3489027"/>
            <a:ext cx="1155373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 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43941"/>
            <a:ext cx="10972526" cy="656332"/>
          </a:xfrm>
          <a:prstGeom prst="rect">
            <a:avLst/>
          </a:prstGeom>
          <a:noFill/>
          <a:ln/>
        </p:spPr>
        <p:txBody>
          <a:bodyPr wrap="none" lIns="0" tIns="107947" rIns="0" bIns="107947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spc="-61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Simulation results: one green road at a time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246882"/>
          <a:ext cx="10972526" cy="914400"/>
        </p:xfrm>
        <a:graphic>
          <a:graphicData uri="http://schemas.openxmlformats.org/drawingml/2006/table">
            <a:tbl>
              <a:tblPr/>
              <a:tblGrid>
                <a:gridCol w="1567419"/>
                <a:gridCol w="2564939"/>
                <a:gridCol w="1139995"/>
                <a:gridCol w="1139995"/>
                <a:gridCol w="1139995"/>
                <a:gridCol w="1139995"/>
                <a:gridCol w="1139995"/>
                <a:gridCol w="1140193"/>
              </a:tblGrid>
              <a:tr h="4831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State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Meaning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Main R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Main Y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Main G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Side R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Side Y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Side G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1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Main green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1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S1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Main yellow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1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S2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Both red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1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S3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Side green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S4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Side yellow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09585" y="4311154"/>
            <a:ext cx="5410065" cy="1976636"/>
          </a:xfrm>
          <a:prstGeom prst="rect">
            <a:avLst/>
          </a:prstGeom>
          <a:solidFill>
            <a:srgbClr val="123B57"/>
          </a:solidFill>
          <a:ln/>
        </p:spPr>
      </p:sp>
      <p:sp>
        <p:nvSpPr>
          <p:cNvPr id="5" name="Text 2"/>
          <p:cNvSpPr/>
          <p:nvPr/>
        </p:nvSpPr>
        <p:spPr>
          <a:xfrm>
            <a:off x="711182" y="4416564"/>
            <a:ext cx="5308467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SAFETY CHECK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11182" y="4598388"/>
            <a:ext cx="5206870" cy="932656"/>
          </a:xfrm>
          <a:prstGeom prst="rect">
            <a:avLst/>
          </a:prstGeom>
          <a:noFill/>
          <a:ln/>
        </p:spPr>
        <p:txBody>
          <a:bodyPr wrap="square" lIns="0" tIns="76198" rIns="0" bIns="76198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400" spc="-43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Main G = 1 and Side G = 1 never occur together.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11182" y="5590480"/>
            <a:ext cx="5206870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Clock edge + current state determine the next state and lamp pattern.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172046" y="4311154"/>
            <a:ext cx="5410065" cy="1976636"/>
          </a:xfrm>
          <a:prstGeom prst="rect">
            <a:avLst/>
          </a:prstGeom>
          <a:solidFill>
            <a:srgbClr val="0D2942"/>
          </a:solidFill>
          <a:ln/>
        </p:spPr>
      </p:sp>
      <p:sp>
        <p:nvSpPr>
          <p:cNvPr id="9" name="Text 6"/>
          <p:cNvSpPr/>
          <p:nvPr/>
        </p:nvSpPr>
        <p:spPr>
          <a:xfrm>
            <a:off x="6273643" y="4416564"/>
            <a:ext cx="5308467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SIMULATION EVIDENCE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73643" y="4702274"/>
            <a:ext cx="5308467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[Insert real Logisim simulation screenshot here]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273643" y="5114588"/>
            <a:ext cx="530846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 not label the illustrative schematic as a screenshot.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507004" y="6448921"/>
            <a:ext cx="684691" cy="208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03774"/>
            <a:ext cx="1158211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1488900"/>
            <a:ext cx="10972526" cy="656332"/>
          </a:xfrm>
          <a:prstGeom prst="rect">
            <a:avLst/>
          </a:prstGeom>
          <a:noFill/>
          <a:ln/>
        </p:spPr>
        <p:txBody>
          <a:bodyPr wrap="none" lIns="0" tIns="107947" rIns="0" bIns="107947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spc="-61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The controller is simple, safe, and ready to extend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122880"/>
            <a:ext cx="5333867" cy="542528"/>
          </a:xfrm>
          <a:prstGeom prst="rect">
            <a:avLst/>
          </a:prstGeom>
          <a:noFill/>
          <a:ln/>
        </p:spPr>
        <p:txBody>
          <a:bodyPr wrap="none" lIns="0" tIns="76198" rIns="0" bIns="76198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400" spc="-43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Simple and safe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2724845"/>
            <a:ext cx="5333867" cy="2833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FSM converts clock pulses into a predictable traffic-light sequence with an all-red clearance state.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Logisim makes the state register, combinational logic, decoder, and LED outputs easy to inspect and explain.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Applications: road intersections, campus traffic systems, and digital logic education.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Future improvements: vehicle sensors, adjustable timers, pedestrian buttons, and emergency-vehicle priority.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248244" y="2195651"/>
            <a:ext cx="5333867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EXPECTED OUTCOME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48244" y="2377476"/>
            <a:ext cx="5333867" cy="1322784"/>
          </a:xfrm>
          <a:prstGeom prst="rect">
            <a:avLst/>
          </a:prstGeom>
          <a:noFill/>
          <a:ln/>
        </p:spPr>
        <p:txBody>
          <a:bodyPr wrap="square" lIns="0" tIns="76198" rIns="0" bIns="76198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400" spc="-43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 working simulation that demonstrates controlled traffic flow without simultaneous green signals.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48244" y="3924796"/>
            <a:ext cx="1333467" cy="38100"/>
          </a:xfrm>
          <a:prstGeom prst="roundRect">
            <a:avLst>
              <a:gd name="adj" fmla="val 49999"/>
            </a:avLst>
          </a:prstGeom>
          <a:solidFill>
            <a:srgbClr val="55E6FF"/>
          </a:solidFill>
          <a:ln/>
        </p:spPr>
      </p:sp>
      <p:sp>
        <p:nvSpPr>
          <p:cNvPr id="9" name="Text 7"/>
          <p:cNvSpPr/>
          <p:nvPr/>
        </p:nvSpPr>
        <p:spPr>
          <a:xfrm>
            <a:off x="6248244" y="4113201"/>
            <a:ext cx="5333867" cy="852884"/>
          </a:xfrm>
          <a:prstGeom prst="rect">
            <a:avLst/>
          </a:prstGeom>
          <a:noFill/>
          <a:ln/>
        </p:spPr>
        <p:txBody>
          <a:bodyPr wrap="square" lIns="0" tIns="146046" rIns="0" bIns="146046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600" spc="-83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11507004" y="6448921"/>
            <a:ext cx="684691" cy="208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2026-10-14T17:39:24Z</dcterms:created>
  <dcterms:modified xsi:type="dcterms:W3CDTF">2026-10-14T17:39:24Z</dcterms:modified>
</cp:coreProperties>
</file>